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137160" cy="50063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Modeling &amp;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Strategies for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Hydrogen Systems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9260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4901E  |  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2514600" cy="2194560"/>
          </a:xfrm>
          <a:prstGeom prst="rect">
            <a:avLst/>
          </a:prstGeom>
          <a:solidFill>
            <a:srgbClr val="132048"/>
          </a:solidFill>
          <a:ln w="12700">
            <a:solidFill>
              <a:srgbClr val="1A3A7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1430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Yeşil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090220359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Semra Ahmetolan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FCHEV  ·  PEMFC Modeling  ·  Optimal 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3268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89611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Definition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969264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9692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554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Selections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627632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6276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21284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Models (Vehicle · PEMFC · Battery)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2860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287121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Derivation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0" y="2944368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9443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352958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Strategies  (DP · A-ECMS · MPC · BLFS)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0" y="3602736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6027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418795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MAT 4902E Roadmap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589520" y="4261104"/>
            <a:ext cx="1051560" cy="310896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42611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The Case for FCHEV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3840480" cy="3154680"/>
          </a:xfrm>
          <a:prstGeom prst="rect">
            <a:avLst/>
          </a:prstGeom>
          <a:solidFill>
            <a:srgbClr val="FFF1F0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384048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PEMFC Alone — Limitations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16736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2893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dynamic response to acceleration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9476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absorb regenerative braking energy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load cycling → membrane degradation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663440" y="841248"/>
            <a:ext cx="3840480" cy="3154680"/>
          </a:xfrm>
          <a:prstGeom prst="rect">
            <a:avLst/>
          </a:prstGeom>
          <a:solidFill>
            <a:srgbClr val="F0FFF8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41248"/>
            <a:ext cx="38404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FCHEV Hybrid — 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316736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38928" y="128930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 handles transient power demands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975104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19476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absorbs regenerative braking energy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633472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operates in efficient steady-state band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4096512"/>
            <a:ext cx="85039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1605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At every instant t, how much power should the FC supply vs. the battery?  →  This power-split decision rule is the Energy Management Strategy (EMS).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Selections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850392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84124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23444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T4: PEMFC → DC/DC converter → DC bus ← Battery (direct)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55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Vehicle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65506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2nd-Gen Toyota Mirai (2020+)  |  m = 1925 kg, P_fc,max = 128 kW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8503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7568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0756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WLTP Class 3b  (T = 3600 s · 46.5 km · N = 3600 decision points)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96312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PEMFC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49631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Mann–Amphlett 0-D Semi-Empirical (GSSEM)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8503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169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291693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A123 ANR26650M1B LiFePO₄  |  96s10p  |  7.92 kWh  |  SoC₀ = 0.90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375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7480" y="333756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1-RC + Hysteresis Equivalent Circuit (Nejad et al. 2016)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758184"/>
            <a:ext cx="850392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581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Scenario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97480" y="375818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2026:  €11/kg H₂  ·  €0.35/kWh electricity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178808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788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Strategies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97480" y="417880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 ·  Adaptive ECMS  ·  MPC  ·  BLFS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Vehicle Dynamics &amp; Power Balance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Dynamics — Wheel Power</a:t>
            </a:r>
            <a:endParaRPr lang="en-US" sz="1300" dirty="0"/>
          </a:p>
        </p:txBody>
      </p:sp>
      <p:pic>
        <p:nvPicPr>
          <p:cNvPr id="7" name="Image 0" descr="/sessions/quirky-vigilant-babbage/mnt/outputs/formulas/eq_wheel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584"/>
            <a:ext cx="832104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377440"/>
            <a:ext cx="850392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423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Bus Power Balance — defines the EMS decision variable u(t) ≡ P_dc(t)</a:t>
            </a:r>
            <a:endParaRPr lang="en-US" sz="1300" dirty="0"/>
          </a:p>
        </p:txBody>
      </p:sp>
      <p:pic>
        <p:nvPicPr>
          <p:cNvPr id="10" name="Image 1" descr="/sessions/quirky-vigilant-babbage/mnt/outputs/formulas/eq_power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24912"/>
            <a:ext cx="6583680" cy="685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3703320"/>
            <a:ext cx="4160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02920" y="3767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 ≡ P_dc(t) — single decision variable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fixed, battery power follows: P_bat = P_load − P_dc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63440" y="3703320"/>
            <a:ext cx="4160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28032" y="3767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x(t) ≡ SoC(t)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optimal control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3600 decision points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PEMFC Stack (Mann–Amphlett GSSEM)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611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Voltage Loss Mechanisms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0972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25880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 V_act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" y="1563624"/>
            <a:ext cx="3721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Tafel-type; dominant at low current density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10972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Ohmic  V_ohm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" y="2340864"/>
            <a:ext cx="3721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+ contact resistance (Mann correlation)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10972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880360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 V_con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" y="3118104"/>
            <a:ext cx="3721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 depletion at high current density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11480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71246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η_fc ≈ 0.70 at ~12 kW  →  ≈ 0.54 at peak (128 kW)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efficiency makes optimal split non-trivial.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868680"/>
            <a:ext cx="425196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Voltage (GSSEM):</a:t>
            </a:r>
            <a:endParaRPr lang="en-US" sz="1250" dirty="0"/>
          </a:p>
        </p:txBody>
      </p:sp>
      <p:pic>
        <p:nvPicPr>
          <p:cNvPr id="20" name="Image 0" descr="/sessions/quirky-vigilant-babbage/mnt/outputs/formulas/eq_cell_vol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43584"/>
            <a:ext cx="4251960" cy="685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0916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N_cell = 330 · A = 300 cm² · T = 343 K (isothermal)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2697480"/>
            <a:ext cx="425196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0916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Mass Flow Rate:</a:t>
            </a:r>
            <a:endParaRPr lang="en-US" sz="1250" dirty="0"/>
          </a:p>
        </p:txBody>
      </p:sp>
      <p:pic>
        <p:nvPicPr>
          <p:cNvPr id="24" name="Image 1" descr="/sessions/quirky-vigilant-babbage/mnt/outputs/formulas/eq_h2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72384"/>
            <a:ext cx="4251960" cy="9601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709160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LHV_H₂ = 120 MJ/kg  |  η_fc stored as 1-D lookup table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Battery (1-RC + Hysteresis)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2788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1-RC + Hysteresis?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16736"/>
            <a:ext cx="3630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LiFePO₄ OCV curve nearly flat between 20%–80% SoC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92224"/>
            <a:ext cx="3630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RC model cannot distinguish SoC in flat region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67712"/>
            <a:ext cx="3630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state tracks charge/discharge reference curves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43200"/>
            <a:ext cx="3630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Nejad et al. 2016: 1.39% mean error — lowest among 10 models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41148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80390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Pack: 960 cells · 96s10p · 316.8 V · 25 Ah · 7.92 kWh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∈ [0.20, 0.95]  |  SoC₀ = 0.90  |  SoC_target = 0.25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868680"/>
            <a:ext cx="425196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Dynamics (Coulomb Counting):</a:t>
            </a:r>
            <a:endParaRPr lang="en-US" sz="1250" dirty="0"/>
          </a:p>
        </p:txBody>
      </p:sp>
      <p:pic>
        <p:nvPicPr>
          <p:cNvPr id="19" name="Image 0" descr="/sessions/quirky-vigilant-babbage/mnt/outputs/formulas/eq_s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43584"/>
            <a:ext cx="4251960" cy="914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9160" y="22311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η_i = 0.995 (coulombic efficiency)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2633472"/>
            <a:ext cx="425196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09160" y="26883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Modeling (Onori et al. 2016):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709160" y="305409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layer: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1-RC + Hysteresis model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Rint model (SoC only)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4553712"/>
            <a:ext cx="42519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09160" y="46085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η ≈ 0.87 vs FC η ≈ 0.61  →  Battery wins energetically; but cost decides the optimal split.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— The Optimization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052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 per Step:</a:t>
            </a:r>
            <a:endParaRPr lang="en-US" sz="1250" dirty="0"/>
          </a:p>
        </p:txBody>
      </p:sp>
      <p:pic>
        <p:nvPicPr>
          <p:cNvPr id="7" name="Image 0" descr="/sessions/quirky-vigilant-babbage/mnt/outputs/formulas/eq_running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8321040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828800"/>
            <a:ext cx="4023360" cy="1417320"/>
          </a:xfrm>
          <a:prstGeom prst="rect">
            <a:avLst/>
          </a:prstGeom>
          <a:solidFill>
            <a:srgbClr val="FFF1F0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828800"/>
            <a:ext cx="40233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828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C_fc,k  — Hydrogen Cost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" y="2194560"/>
            <a:ext cx="3767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M_H₂ = €11/kg (Germany 2026)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FC efficiency map &amp; LHV_H₂ = 120 MJ/kg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battery state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17720" y="1828800"/>
            <a:ext cx="4206240" cy="1417320"/>
          </a:xfrm>
          <a:prstGeom prst="rect">
            <a:avLst/>
          </a:prstGeom>
          <a:solidFill>
            <a:srgbClr val="F0F9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828800"/>
            <a:ext cx="420624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C_bat,k  — Electricity Cost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21945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M_ele = €0.35/kWh (Germany 2026)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Direction-dependent round-trip η_eff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during regenerative charging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0040" y="3337560"/>
            <a:ext cx="85039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Functional — Principal Mathematical Result (Eq. 24):</a:t>
            </a:r>
            <a:endParaRPr lang="en-US" sz="1300" dirty="0"/>
          </a:p>
        </p:txBody>
      </p:sp>
      <p:pic>
        <p:nvPicPr>
          <p:cNvPr id="19" name="Image 1" descr="/sessions/quirky-vigilant-babbage/mnt/outputs/formulas/eq_cost_to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66744"/>
            <a:ext cx="8412480" cy="8961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5488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1000 €: penalises SoC_N ≠ 0.25 at magnitude far exceeding expected trip cost (≈5–15 €).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Energy Management Strategies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05740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1700784"/>
            <a:ext cx="1911096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BAE0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700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backward recursion over full drive cycle. Offline only — cannot be deployed in real vehicle. Serves as theoretical upper bound for all other strategies.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3593592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593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52728" y="3593592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" y="3986784"/>
            <a:ext cx="19110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load: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52728" y="3986784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(offline)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" y="4379976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3799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52728" y="4379976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86868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868680"/>
            <a:ext cx="205740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8961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A-ECMS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14600" y="1280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87752" y="1700784"/>
            <a:ext cx="1911096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BAE0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1700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Candidate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06040" y="20116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PMP-based Hamiltonian minimisation at each step. PI feedback on SoC error adapts equivalence factor s(t) online. Near-DP performance in real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87752" y="3593592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4328" y="3593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47288" y="3593592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87752" y="3986784"/>
            <a:ext cx="19110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load: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47288" y="3986784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87752" y="4379976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43799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47288" y="4379976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(PMP)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86868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868680"/>
            <a:ext cx="20574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8961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09160" y="1280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82312" y="1700784"/>
            <a:ext cx="1911096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BAE0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700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Candidate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20116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 horizon N_p = 15. Solves QP at every sample, applies only first step. Assumes constant future load over prediction horizon.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82312" y="3593592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593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41848" y="3593592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82312" y="3986784"/>
            <a:ext cx="19110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load: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41848" y="3986784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82312" y="4379976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3799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41848" y="4379976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03720" y="868680"/>
            <a:ext cx="2057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03720" y="868680"/>
            <a:ext cx="20574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8961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BLFS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903720" y="1280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Following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76872" y="1700784"/>
            <a:ext cx="1911096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BAE0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76872" y="1700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Layer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95160" y="20116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band ±0.05 around SoC_ref. FC ramp ≤ 5 kW/s. Lightweight layer operating beneath A-ECMS or MPC — not a standalone strategy.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76872" y="3593592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13448" y="3593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36408" y="3593592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76872" y="3986784"/>
            <a:ext cx="19110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13448" y="3986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load: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836408" y="3986784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76872" y="4379976"/>
            <a:ext cx="1911096" cy="365760"/>
          </a:xfrm>
          <a:prstGeom prst="rect">
            <a:avLst/>
          </a:prstGeom>
          <a:solidFill>
            <a:srgbClr val="F8FAFF"/>
          </a:solidFill>
          <a:ln w="6350">
            <a:solidFill>
              <a:srgbClr val="E5EAF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13448" y="43799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36408" y="4379976"/>
            <a:ext cx="1033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Formulations — DP &amp; Adaptive ECMS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1783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09728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90525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— Bellman Backward Recursion</a:t>
            </a:r>
            <a:endParaRPr lang="en-US" sz="1300" dirty="0"/>
          </a:p>
        </p:txBody>
      </p:sp>
      <p:pic>
        <p:nvPicPr>
          <p:cNvPr id="8" name="Image 0" descr="/sessions/quirky-vigilant-babbage/mnt/outputs/formulas/eq_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584"/>
            <a:ext cx="8321040" cy="8046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20848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grid: ΔSoC = 0.005 · Control grid: ΔP_dc = 1 kW · N = 3600 steps (Sundström &amp; Guzzella 2009; Bertsekas 2005)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743200"/>
            <a:ext cx="850392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743200"/>
            <a:ext cx="109728" cy="228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277977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ECMS — Pontryagin's Minimum Principle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1208" y="31455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minimised at each step:</a:t>
            </a:r>
            <a:endParaRPr lang="en-US" sz="1200" dirty="0"/>
          </a:p>
        </p:txBody>
      </p:sp>
      <p:pic>
        <p:nvPicPr>
          <p:cNvPr id="14" name="Image 1" descr="/sessions/quirky-vigilant-babbage/mnt/outputs/formulas/eq_hamilton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01568"/>
            <a:ext cx="822960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" y="4078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factor s(t) updated by PI feedback on SoC tracking error:</a:t>
            </a:r>
            <a:endParaRPr lang="en-US" sz="1200" dirty="0"/>
          </a:p>
        </p:txBody>
      </p:sp>
      <p:pic>
        <p:nvPicPr>
          <p:cNvPr id="16" name="Image 2" descr="/sessions/quirky-vigilant-babbage/mnt/outputs/formulas/eq_ecms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52544"/>
            <a:ext cx="82296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Formulations — MPC &amp; BLFS Protection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2240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09728" cy="2240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90525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Predictive Control — Receding Horizon  (N_p = 15)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280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 k, solve a finite-horizon QP and apply only the first control action:</a:t>
            </a:r>
            <a:endParaRPr lang="en-US" sz="1200" dirty="0"/>
          </a:p>
        </p:txBody>
      </p:sp>
      <p:pic>
        <p:nvPicPr>
          <p:cNvPr id="9" name="Image 0" descr="/sessions/quirky-vigilant-babbage/mnt/outputs/formulas/eq_m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83210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3774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constant future load over horizon · Solves QP at every sample · Applies first element only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3200400"/>
            <a:ext cx="8503920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3200400"/>
            <a:ext cx="10972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323697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Surface Following (BLFS) — Protection Layer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630168"/>
            <a:ext cx="8229600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484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&gt; SoC_ref + 0.05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22192" y="3648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42816" y="3648456"/>
            <a:ext cx="4370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at minimum power  →  battery depletes toward target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4014216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03250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&lt; SoC_ref − 0.05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822192" y="40325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42816" y="4032504"/>
            <a:ext cx="4370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at peak-efficiency point  →  battery recharges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398264"/>
            <a:ext cx="8229600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41655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inside band [±0.05]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22192" y="44165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242816" y="4416552"/>
            <a:ext cx="4370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Upper-level (A-ECMS or MPC) command passed through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1208" y="47914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ramp rate limited to |dP_fc/dt| ≤ 5 kW/s — prevents membrane degradation (Eq. 31)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Comparison of EMS Strategies (Table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86968"/>
            <a:ext cx="2011680" cy="420624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869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886968"/>
            <a:ext cx="169164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886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886968"/>
            <a:ext cx="169164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86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A-ECMS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886968"/>
            <a:ext cx="169164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886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886968"/>
            <a:ext cx="16916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886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BLFS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316736"/>
            <a:ext cx="20116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316736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31720" y="1316736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1316736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23360" y="1316736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9936" y="1316736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 ref.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15000" y="1316736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1576" y="1316736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horizon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 = 15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1316736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43216" y="1316736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only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1984248"/>
            <a:ext cx="20116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19842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31720" y="1984248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68296" y="19842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23360" y="1984248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19842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(PMP)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15000" y="1984248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19842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(horizon)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06640" y="1984248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1984248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(rule-based)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2651760"/>
            <a:ext cx="20116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331720" y="2651760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68296" y="2651760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023360" y="2651760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9936" y="2651760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715000" y="2651760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2651760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06640" y="2651760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3216" y="2651760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0040" y="3319272"/>
            <a:ext cx="20116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3319272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31720" y="3319272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68296" y="3319272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023360" y="3319272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9936" y="3319272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15000" y="3319272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51576" y="3319272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406640" y="3319272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3319272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0040" y="3986784"/>
            <a:ext cx="20116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3986784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331720" y="3986784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68296" y="3986784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023360" y="3986784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9936" y="3986784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715000" y="3986784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51576" y="3986784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406640" y="3986784"/>
            <a:ext cx="16916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D1E9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43216" y="3986784"/>
            <a:ext cx="1618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MAT 4902E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520440"/>
          </a:xfrm>
          <a:prstGeom prst="rect">
            <a:avLst/>
          </a:prstGeom>
          <a:solidFill>
            <a:srgbClr val="F0FFF8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4901E — Completed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25880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(EMS · PEMFC · Battery)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64208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fixed (T4 · Mirai II · WLTP)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0253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vehicle dynamics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34086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Mann–Amphlett GSSEM (PEMFC model)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79192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1-RC + Hysteresis battery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017520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flow model &amp; conversion chains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55848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functional (Eq. 24) derived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69417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control problem stated (Eqs. 25–26)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5993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3250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EMS strategies formulated (Eqs. 27–31)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868680"/>
            <a:ext cx="4114800" cy="35204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4902E — Upcoming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353312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353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02352" y="1325880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simulation environment (2-layer)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691640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69164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02352" y="1664208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PSO/GA parameter identification (Mirai II stack)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029968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02996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02352" y="200253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efficiency map (η_fc lookup table)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2368296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3682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02352" y="234086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implementation (Bellman recursion)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706624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7066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02352" y="2679192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A-ECMS with PI-adapted equivalence factor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3044952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04495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02352" y="3017520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transcribed as quadratic program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3383280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3832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02352" y="3355848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BLFS integrated beneath A-ECMS &amp; MPC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00600" y="3721608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72160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02352" y="3694176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cost (€/100 km) · H₂ · electricity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4059936"/>
            <a:ext cx="237744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0599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02352" y="4032504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(price scenarios + γ)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4498848"/>
            <a:ext cx="85039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9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92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mathematical formulation is finalized — MAT 4902E is dedicated to numerical implementation &amp; strategy comparison.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137160" cy="50063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05256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FCHEV modeled on 2nd-Gen Toyota Mirai with rescaled 7.92 kWh LFP pack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08176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80744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Mann–Amphlett GSSEM + 1-RC Hysteresis battery in two-level plant/controller framework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83664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56232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cost functional (Eq. 24) combining H₂ cost and grid electricity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31720"/>
            <a:ext cx="5349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EMS strategies formulated: DP · A-ECMS · MPC · BLFS (Eqs. 27–31)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658368"/>
            <a:ext cx="2578608" cy="3657600"/>
          </a:xfrm>
          <a:prstGeom prst="rect">
            <a:avLst/>
          </a:prstGeom>
          <a:solidFill>
            <a:srgbClr val="0D2B55"/>
          </a:solidFill>
          <a:ln w="12700">
            <a:solidFill>
              <a:srgbClr val="1A3A7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7498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4902E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143000"/>
            <a:ext cx="22860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6187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Strategy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DP · A-ECMS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· BLFS · €/100 km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31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" y="45720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Yeşil  |  MAT 4901E  |  June 2026  |  Supervisor: Prof. Dr. Semra Ahmetolan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Modeling &amp; Control Strategies for Hybrid Hydrogen Systems</dc:title>
  <dc:subject>PptxGenJS Presentation</dc:subject>
  <dc:creator>Ahmet Yeşil</dc:creator>
  <cp:lastModifiedBy>Ahmet Yeşil</cp:lastModifiedBy>
  <cp:revision>1</cp:revision>
  <dcterms:created xsi:type="dcterms:W3CDTF">2026-06-16T14:56:27Z</dcterms:created>
  <dcterms:modified xsi:type="dcterms:W3CDTF">2026-06-16T14:56:27Z</dcterms:modified>
</cp:coreProperties>
</file>